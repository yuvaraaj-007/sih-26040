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Yuvaraaj-007/SiH-26040/tree/mai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pii/S0376738822005622" TargetMode="External"/><Relationship Id="rId3" Type="http://schemas.openxmlformats.org/officeDocument/2006/relationships/hyperlink" Target="https://www.sciencedirect.com/science/article/pii/S2214714422003646?utm_source=chatgpt.com" TargetMode="External"/><Relationship Id="rId7" Type="http://schemas.openxmlformats.org/officeDocument/2006/relationships/hyperlink" Target="https://www.sciencedirect.com/science/article/pii/S2451910325001085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s.acs.org/acsodf/article/9/24/25493/410316/Electrochemical-Sensors-for-Heavy-Metal-Ion?utm_source=chatgpt.com" TargetMode="External"/><Relationship Id="rId5" Type="http://schemas.openxmlformats.org/officeDocument/2006/relationships/hyperlink" Target="https://www.mdpi.com/2073-4441/14/15/2385?utm_source=chatgpt.com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ieeexplore.ieee.org/document/10165824/?utm_source=chatgpt.com" TargetMode="External"/><Relationship Id="rId9" Type="http://schemas.openxmlformats.org/officeDocument/2006/relationships/hyperlink" Target="https://github.com/Yuvaraaj-007/SiH-26040/tree/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4473" y="2196807"/>
            <a:ext cx="6710418" cy="3490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4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Problem Statement ID -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SIH26040</a:t>
            </a:r>
          </a:p>
          <a:p>
            <a:pPr marL="285750" indent="-285750" algn="l">
              <a:lnSpc>
                <a:spcPct val="14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Problem Statement Title -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Smart Water Purification and Quality Monitoring System for Rural and Mining-Affected Areas</a:t>
            </a:r>
          </a:p>
          <a:p>
            <a:pPr marL="285750" indent="-285750" algn="l">
              <a:lnSpc>
                <a:spcPct val="14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Theme -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Clean &amp; Green Technology</a:t>
            </a:r>
          </a:p>
          <a:p>
            <a:pPr marL="285750" indent="-285750" algn="l">
              <a:lnSpc>
                <a:spcPct val="14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PS Category - Hardware</a:t>
            </a:r>
          </a:p>
          <a:p>
            <a:pPr marL="285750" indent="-285750" algn="l">
              <a:lnSpc>
                <a:spcPct val="14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Team ID - 158819</a:t>
            </a:r>
          </a:p>
          <a:p>
            <a:pPr marL="285750" indent="-285750" algn="l">
              <a:lnSpc>
                <a:spcPct val="14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Team Name (Registered on portal) – Team_7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50000" y="-179509"/>
            <a:ext cx="8100000" cy="1143000"/>
          </a:xfrm>
        </p:spPr>
        <p:txBody>
          <a:bodyPr/>
          <a:lstStyle/>
          <a:p>
            <a:pPr eaLnBrk="1" hangingPunct="1"/>
            <a:b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  <a:br>
              <a:rPr lang="en-US" sz="2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Smart Water Purification &amp; Quality Monitoring System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1130000"/>
            <a:ext cx="11800000" cy="4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buFont typeface="Wingdings"/>
              <a:buChar char="v"/>
            </a:pPr>
            <a:r>
              <a:rPr lang="en-US" sz="2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TEAM_7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1" name="TextBox 201"/>
          <p:cNvSpPr txBox="1"/>
          <p:nvPr/>
        </p:nvSpPr>
        <p:spPr>
          <a:xfrm>
            <a:off x="182998" y="1560000"/>
            <a:ext cx="5900000" cy="47500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Overview:</a:t>
            </a:r>
          </a:p>
          <a:p>
            <a:pPr marL="228600" lvl="0" indent="-228600">
              <a:spcBef>
                <a:spcPts val="200"/>
              </a:spcBef>
              <a:buFont typeface="Arial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Real-time sensing: Continuously monitors key water-quality parameters. </a:t>
            </a:r>
          </a:p>
          <a:p>
            <a:pPr marL="228600" lvl="0" indent="-228600">
              <a:spcBef>
                <a:spcPts val="200"/>
              </a:spcBef>
              <a:buFont typeface="Arial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Smart classification: Uses on-device ML to identify the type of contamination. </a:t>
            </a:r>
          </a:p>
          <a:p>
            <a:pPr marL="228600" lvl="0" indent="-228600">
              <a:spcBef>
                <a:spcPts val="200"/>
              </a:spcBef>
              <a:buFont typeface="Arial"/>
              <a:buChar char="•"/>
            </a:pPr>
            <a:r>
              <a:rPr lang="en-IN" sz="1400" dirty="0">
                <a:latin typeface="Arial" pitchFamily="34" charset="0"/>
                <a:cs typeface="Arial" pitchFamily="34" charset="0"/>
              </a:rPr>
              <a:t>Adaptive purification: Routes water through only the treatment stages it needs, making it suitable for variable mining-affected water.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Problems with conventional water treatment units: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Fixed treatment pipeline regardless of contamination type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No real-time visibility into water safety for the community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Heavy-metal contamination from mining runoff often goes undetected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High maintenance downtime with no early-warning of filter fouling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Innovation and uniqueness of the solution: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On-device ML classifies contamination type, not just threshold breach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Adaptive treatment routing activates only the stages needed per batch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Electrochemical heavy-metal sensing (LMP91000 AFE) - rarely seen in low-cost systems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Post-treatment verification with automatic reject/divert safety interlock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Predictive filter-fouling alerts based on treatment efficiency trend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6200000" y="1560000"/>
            <a:ext cx="5800000" cy="4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Prototype: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Sensor cluster + control board housed in a sealed IP65 enclosure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Multi-stage purification train: sediment -&gt; carbon -&gt; ion-exchange/electrocoagulation -&gt; UV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Solar + LiFePO4 battery power unit for off-grid operation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LoRa-based telemetry to a village-level dashboard, with GSM/SMS fallback</a:t>
            </a: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Concept explanation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Adaptive routing: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sensor readings are classified on-device (TensorFlow Lite Micro) to identify contamination type before selecting a treatment path.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Electrochemical AFE sensing: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a three-electrode setup with the LMP91000 front-end detects heavy metals (Fe, Mn, As) without lab-grade equipment.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Closed-loop verification: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treated water is re-tested before entering storage; a failed batch is automatically diverted back for re-treatment.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0000" y="1130000"/>
            <a:ext cx="5800000" cy="22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Hardware requirements: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ESP32-S3 microcontroller unit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pH, TDS, turbidity &amp; ORP analog sensors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DS18B20 digital temperature probe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LMP91000 electrochemical AFE (heavy metals)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ADS1115 16-bit external ADC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Solenoid valves + MOSFET/relay drivers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LoRa SX1278 module, GSM/SMS fallback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Solar panel + LiFePO4 battery + charge controller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TEAM_7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3" name="TextBox 203"/>
          <p:cNvSpPr txBox="1"/>
          <p:nvPr/>
        </p:nvSpPr>
        <p:spPr>
          <a:xfrm>
            <a:off x="6300000" y="1130000"/>
            <a:ext cx="5600000" cy="2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Software requirements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Arduino / ESP-IDF firmware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TensorFlow Lite Micro (edge classification)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Proteus (circuit simulation)</a:t>
            </a:r>
          </a:p>
          <a:p>
            <a:pPr marL="228600" indent="-228600" algn="l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Custom dashboard / mobile app (BLE-MQTT bridge)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endParaRPr lang="en-US" sz="1300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200"/>
              </a:spcBef>
            </a:pPr>
            <a:r>
              <a:rPr lang="en-US" sz="1300" b="1" dirty="0">
                <a:latin typeface="Arial" pitchFamily="34" charset="0"/>
                <a:cs typeface="Arial" pitchFamily="34" charset="0"/>
              </a:rPr>
              <a:t>GitHub Repo :</a:t>
            </a:r>
            <a:r>
              <a:rPr lang="en-US" sz="13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300" dirty="0">
                <a:latin typeface="Arial" pitchFamily="34" charset="0"/>
                <a:cs typeface="Arial" pitchFamily="34" charset="0"/>
                <a:hlinkClick r:id="rId4"/>
              </a:rPr>
              <a:t>https://github.com/Yuvaraaj-007/SiH-26040/tree/main</a:t>
            </a:r>
            <a:br>
              <a:rPr lang="en-US" sz="1300" dirty="0">
                <a:latin typeface="Arial" pitchFamily="34" charset="0"/>
                <a:cs typeface="Arial" pitchFamily="34" charset="0"/>
              </a:rPr>
            </a:br>
            <a:endParaRPr 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TextBox 204"/>
          <p:cNvSpPr txBox="1"/>
          <p:nvPr/>
        </p:nvSpPr>
        <p:spPr>
          <a:xfrm>
            <a:off x="400000" y="3250000"/>
            <a:ext cx="11400000" cy="38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WORKFLOW</a:t>
            </a:r>
          </a:p>
        </p:txBody>
      </p:sp>
      <p:graphicFrame>
        <p:nvGraphicFramePr>
          <p:cNvPr id="205" name="Table 205"/>
          <p:cNvGraphicFramePr>
            <a:graphicFrameLocks noGrp="1"/>
          </p:cNvGraphicFramePr>
          <p:nvPr/>
        </p:nvGraphicFramePr>
        <p:xfrm>
          <a:off x="400000" y="3620000"/>
          <a:ext cx="11400000" cy="2513280"/>
        </p:xfrm>
        <a:graphic>
          <a:graphicData uri="http://schemas.openxmlformats.org/drawingml/2006/table">
            <a:tbl>
              <a:tblPr firstRow="1"/>
              <a:tblGrid>
                <a:gridCol w="28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Sensing &amp; power</a:t>
                      </a:r>
                    </a:p>
                  </a:txBody>
                  <a:tcPr marL="72000" marR="72000" marT="36000" marB="36000" anchor="ctr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Processing</a:t>
                      </a:r>
                    </a:p>
                  </a:txBody>
                  <a:tcPr marL="72000" marR="72000" marT="36000" marB="36000" anchor="ctr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Communication</a:t>
                      </a:r>
                    </a:p>
                  </a:txBody>
                  <a:tcPr marL="72000" marR="72000" marT="36000" marB="36000" anchor="ctr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Actuation</a:t>
                      </a:r>
                    </a:p>
                  </a:txBody>
                  <a:tcPr marL="72000" marR="72000" marT="36000" marB="36000" anchor="ctr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Regulated 12V/5V/3.3V power distribution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Adaptive treatment stage selection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Real-time alerts &amp; notifications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Usage logging &amp; auto-refill trigger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Signal conditioning &amp; buffering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On-device ML contamination classification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Mobile app data ingestion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Clean water storage &amp; tank-level monitoring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pH, TDS, turbidity &amp; ORP sensors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Sensor calibration &amp; filtering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Cloud dashboard sync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Batch verification &amp; reject/divert logic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LMP91000 electrochemical AFE (heavy metals)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ADS1115 16-bit ADC acquisition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GSM/SMS fallback alerts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Multi-stage purification: sediment, carbon, UV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Multi-source water intake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ESP32-S3 microcontroller unit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LoRa SX1278 module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12V pump/valve MOSFET driver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6200000"/>
            <a:ext cx="100000" cy="1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TEAM_7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06" name="Table 206"/>
          <p:cNvGraphicFramePr>
            <a:graphicFrameLocks noGrp="1"/>
          </p:cNvGraphicFramePr>
          <p:nvPr/>
        </p:nvGraphicFramePr>
        <p:xfrm>
          <a:off x="400000" y="1500000"/>
          <a:ext cx="11400000" cy="4007840"/>
        </p:xfrm>
        <a:graphic>
          <a:graphicData uri="http://schemas.openxmlformats.org/drawingml/2006/table">
            <a:tbl>
              <a:tblPr firstRow="1"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ASPECT</a:t>
                      </a:r>
                    </a:p>
                  </a:txBody>
                  <a:tcPr marL="72000" marR="72000" marT="36000" marB="36000" anchor="ctr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FEASIBILITY</a:t>
                      </a:r>
                    </a:p>
                  </a:txBody>
                  <a:tcPr marL="72000" marR="72000" marT="36000" marB="36000" anchor="ctr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RISK/CHALLENGE</a:t>
                      </a:r>
                    </a:p>
                  </a:txBody>
                  <a:tcPr marL="72000" marR="72000" marT="36000" marB="36000" anchor="ctr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MITIGATION STRATEGY</a:t>
                      </a:r>
                    </a:p>
                  </a:txBody>
                  <a:tcPr marL="72000" marR="72000" marT="36000" marB="36000" anchor="ctr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Hardware and sensing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Low-cost analog sensors + LMP91000 AFE replace lab-grade heavy-metal testing equipment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Electrochemical sensor drift and fouling in silt-heavy mine runoff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Periodic auto-calibration cycle; pre-filter mesh to protect electrodes from silt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Computation and telemetry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ESP32-S3 runs TFLite Micro classification on-device; LoRa gives long range at low power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Limited connectivity in remote mining/rural zones; LoRa payload size constraints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GSM/SMS fallback for critical alerts; LoRa mesh relay between deployed units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Field and long-term viability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Solar + LiFePO4 removes grid dependency; multi-stage design adapts to seasonal contamination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Fluctuating solar input and battery degradation over multi-year field deployment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MPPT charge controller with margin sizing; predictive maintenance alerts for filter/battery health</a:t>
                      </a:r>
                    </a:p>
                  </a:txBody>
                  <a:tcPr marL="72000" marR="72000" marT="36000" marB="3600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00000"/>
            <a:ext cx="10900000" cy="47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RURAL COMMUNITIES :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Provides continuous access to verified safe drinking water without relying on periodic manual lab testing.</a:t>
            </a:r>
          </a:p>
          <a:p>
            <a:pPr marL="342900" indent="-342900" algn="just">
              <a:lnSpc>
                <a:spcPct val="10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MINING-AFFECTED POPULATIONS :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Targets heavy-metal and acidic-drainage contamination specific to mining zones, which standard filters typically miss.</a:t>
            </a:r>
          </a:p>
          <a:p>
            <a:pPr marL="342900" indent="-342900" algn="just">
              <a:lnSpc>
                <a:spcPct val="10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PUBLIC HEALTH IMPACT :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Reduces exposure to waterborne pathogens and heavy metals, lowering incidence of related illnesses in underserved areas.</a:t>
            </a:r>
          </a:p>
          <a:p>
            <a:pPr marL="342900" indent="-342900" algn="just">
              <a:lnSpc>
                <a:spcPct val="10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ECONOMIC BENEFITS :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Off-grid solar operation and adaptive treatment reduce running cost and consumable replacement compared to fixed-pipeline purification units.</a:t>
            </a:r>
          </a:p>
          <a:p>
            <a:pPr marL="342900" indent="-342900" algn="just">
              <a:lnSpc>
                <a:spcPct val="10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ENVIRONMENTAL BENEFITS :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Selective, on-demand treatment stage activation reduces unnecessary chemical/energy consumption versus always-on treatment trains.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TEAM_7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06168" y="1359451"/>
            <a:ext cx="10900000" cy="4462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Water Quality Classification Using Machine Learning Algorithms – Elsevier</a:t>
            </a:r>
            <a:br>
              <a:rPr lang="en-IN" sz="2000" dirty="0"/>
            </a:br>
            <a:r>
              <a:rPr lang="en-IN" sz="2000" dirty="0">
                <a:hlinkClick r:id="rId3"/>
              </a:rPr>
              <a:t>https://www.sciencedirect.com/science/article/pii/S2214714422003646</a:t>
            </a:r>
            <a:r>
              <a:rPr lang="en-IN" sz="2000" dirty="0"/>
              <a:t> </a:t>
            </a:r>
          </a:p>
          <a:p>
            <a:r>
              <a:rPr lang="en-IN" sz="2000" b="1" dirty="0"/>
              <a:t>Real Time Monitoring of Water Quality for Rural Areas – IEEE</a:t>
            </a:r>
            <a:br>
              <a:rPr lang="en-IN" sz="2000" dirty="0"/>
            </a:br>
            <a:r>
              <a:rPr lang="en-IN" sz="2000" dirty="0">
                <a:hlinkClick r:id="rId4"/>
              </a:rPr>
              <a:t>https://ieeexplore.ieee.org/document/10165824/</a:t>
            </a:r>
            <a:r>
              <a:rPr lang="en-IN" sz="2000" dirty="0"/>
              <a:t> </a:t>
            </a:r>
          </a:p>
          <a:p>
            <a:r>
              <a:rPr lang="en-IN" sz="2000" b="1" dirty="0"/>
              <a:t>Resource Utilization of Acid Mine Drainage (AMD): A Review – MDPI</a:t>
            </a:r>
            <a:br>
              <a:rPr lang="en-IN" sz="2000" dirty="0"/>
            </a:br>
            <a:r>
              <a:rPr lang="en-IN" sz="2000" dirty="0">
                <a:hlinkClick r:id="rId5"/>
              </a:rPr>
              <a:t>https://www.mdpi.com/2073-4441/14/15/2385</a:t>
            </a:r>
            <a:r>
              <a:rPr lang="en-IN" sz="2000" dirty="0"/>
              <a:t> </a:t>
            </a:r>
          </a:p>
          <a:p>
            <a:r>
              <a:rPr lang="en-IN" sz="2000" b="1" dirty="0"/>
              <a:t>Electrochemical Sensors for Heavy Metal Ion Detection in Aqueous Medium – ACS</a:t>
            </a:r>
            <a:br>
              <a:rPr lang="en-IN" sz="2000" dirty="0"/>
            </a:br>
            <a:r>
              <a:rPr lang="en-IN" sz="2000" dirty="0">
                <a:hlinkClick r:id="rId6"/>
              </a:rPr>
              <a:t>https://pubs.acs.org/acsodf/article/9/24/25493/410316/Electrochemical-Sensors-for-Heavy-Metal-Ion</a:t>
            </a:r>
            <a:r>
              <a:rPr lang="en-IN" sz="2000" dirty="0"/>
              <a:t> </a:t>
            </a:r>
          </a:p>
          <a:p>
            <a:r>
              <a:rPr lang="en-IN" sz="2000" b="1" dirty="0"/>
              <a:t>Recent Trends in Electrochemical Methods for Real-Time Detection of Heavy Metals – Elsevier</a:t>
            </a:r>
            <a:br>
              <a:rPr lang="en-IN" sz="2000" dirty="0"/>
            </a:br>
            <a:r>
              <a:rPr lang="en-IN" sz="2000" dirty="0">
                <a:hlinkClick r:id="rId7"/>
              </a:rPr>
              <a:t>https://www.sciencedirect.com/science/article/pii/S2451910325001085</a:t>
            </a:r>
            <a:r>
              <a:rPr lang="en-IN" sz="2000" dirty="0"/>
              <a:t> </a:t>
            </a:r>
          </a:p>
          <a:p>
            <a:r>
              <a:rPr lang="en-IN" sz="2000" b="1" dirty="0"/>
              <a:t>Membrane Fouling Prediction Using Machine Learning – Elsevier</a:t>
            </a:r>
            <a:br>
              <a:rPr lang="en-IN" sz="2000" dirty="0"/>
            </a:br>
            <a:r>
              <a:rPr lang="en-IN" sz="2000" dirty="0">
                <a:hlinkClick r:id="rId8"/>
              </a:rPr>
              <a:t>https://www.sciencedirect.com/science/article/pii/S0376738822005622</a:t>
            </a:r>
            <a:br>
              <a:rPr lang="en-IN" sz="2000" dirty="0"/>
            </a:br>
            <a:endParaRPr lang="en-IN" sz="2000" dirty="0"/>
          </a:p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GitHub Repo :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  <a:hlinkClick r:id="rId9"/>
              </a:rPr>
              <a:t>https://github.com/Yuvaraaj-007/SiH-26040/tree/main</a:t>
            </a:r>
            <a:endParaRPr lang="en-IN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TEAM_7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7660</TotalTime>
  <Words>997</Words>
  <Application>Microsoft Office PowerPoint</Application>
  <PresentationFormat>Widescreen</PresentationFormat>
  <Paragraphs>128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 Smart Water Purification &amp; Quality Monitoring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YUVARAAJA GANESH V</cp:lastModifiedBy>
  <cp:revision>150</cp:revision>
  <dcterms:created xsi:type="dcterms:W3CDTF">2013-12-12T18:46:50Z</dcterms:created>
  <dcterms:modified xsi:type="dcterms:W3CDTF">2026-09-28T17:44:15Z</dcterms:modified>
  <cp:category/>
</cp:coreProperties>
</file>